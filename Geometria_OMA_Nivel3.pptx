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Geometría OMA – Nivel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5B9BD5"/>
                </a:solidFill>
              </a:rPr>
              <a:t>Repaso y práctica · Intercolegial &amp; Zonal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7D1A"/>
                </a:solidFill>
              </a:rPr>
              <a:t>⏱ 90 minutos  |  Año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E6C"/>
                </a:solidFill>
              </a:rPr>
              <a:t>▸ Bloque 1 · Triángulos y puntos notables   (0–25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051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E6C"/>
                </a:solidFill>
              </a:rPr>
              <a:t>▸ Bloque 2 · Cuadriláteros y polígonos      (25–50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4086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E6C"/>
                </a:solidFill>
              </a:rPr>
              <a:t>▸ Bloque 3 · Circunferencia e inscripción    (50–70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E6C"/>
                </a:solidFill>
              </a:rPr>
              <a:t>▸ Bloque 4 · Práctica tipo competencia       (70–90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015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74EA8"/>
                </a:solidFill>
              </a:rPr>
              <a:t>▸ Cada bloque: teoría express → problema guiado → problema autónomo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897880"/>
            <a:ext cx="11430000" cy="77724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💡 Traé regla, compás y calculadora. ¡No se permite geometría dinámica durante los ejercicios!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7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E87D1A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Triángulos y puntos notables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749039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9BD5"/>
                </a:solidFill>
              </a:rPr>
              <a:t>0 – 25 minutos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Teoría exprés — Triángulos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E87D1A"/>
                </a:solidFill>
              </a:rPr>
              <a:t>⏱ 0–8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Criterios de congruencia: LLL, LAL, ALA, LA (recto)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Criterios de semejanza: AA, LAL~, LLL~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4086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Teorema de la bisectriz: BD/DC = AB/AC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7121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Ceviano — Teorema de Ceva: (AF/FB)·(BD/DC)·(CE/EA)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015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Menelao: útil para colinealidad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Stewart: ma² = b²·m + c²·n − a·m·n  (ceviano de longitud ma)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897880"/>
            <a:ext cx="11430000" cy="77724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💡 En nivel 3, los problemas casi siempre mezclan semejanza con áreas. Identificá triángulos semejantes antes de calcular.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Teoría exprés — Puntos notables (II)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E87D1A"/>
                </a:solidFill>
              </a:rPr>
              <a:t>⏱ 8–15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Baricentro G: intersección de medianas, G divide cada mediana 2:1 desde vértice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Ortocentro H: intersección de alturas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4086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Circuncentro O: equidistante de los tres vértices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7121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Incentro I: equidistante de los tres lados (radio del incírculo = Área/s)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015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Relación de Euler: OI² = R(R − 2r)  →  R ≥ 2r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Nueve puntos: circunferencia de radio R/2 pasa por pies de alturas, puntos medios y puntos de Euler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897880"/>
            <a:ext cx="11430000" cy="77724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💡 Si el enunciado menciona 'circunscripto' pensá en O; si menciona 'inscripto' pensá en I. Si menciona ambos, usá la relación de Euler.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Problema guiado 1.1 — Triángulos semejantes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1A2E6C"/>
                </a:solidFill>
              </a:rPr>
              <a:t>⏱ 15–20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En el triángulo ABC (rectángulo en C), la altura desde C al lado AB toca AB en H.
Sea M el punto medio de AB.
a) Demostrá que CH² = AH · HB.
b) Si AB = 10 y CH = 4, calculá AH, HB y las longitudes AC y BC.
c) Hallá la distancia MH.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303520"/>
            <a:ext cx="11430000" cy="868680"/>
          </a:xfrm>
          <a:prstGeom prst="rect">
            <a:avLst/>
          </a:prstGeom>
          <a:solidFill>
            <a:srgbClr val="27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36752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Pista: CH es media geométrica porque △ACH ~ △CBH ~ △ACB. Para MH usá que M es circuncentro del triángulo rectángulo.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Problema autónomo 1.2 — Ceviano y áreas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1A2E6C"/>
                </a:solidFill>
              </a:rPr>
              <a:t>⏱ 20–25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En el triángulo ABC, D es un punto en BC tal que BD = 2·DC.
La mediana desde A toca BC en M.
a) Calculá la razón entre las áreas de △ABD y △ACD.
b) Sea G el baricentro. Demostrá que G, D y A son colineales si y solo si D = M.
c) Con BD = 2·DC, hallá la razón AD/AG donde G es el baricentro.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303520"/>
            <a:ext cx="11430000" cy="868680"/>
          </a:xfrm>
          <a:prstGeom prst="rect">
            <a:avLst/>
          </a:prstGeom>
          <a:solidFill>
            <a:srgbClr val="27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36752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Pista: Usá que el baricentro divide la mediana en razón 2:1. Para las áreas, mismo vértice A → razón de áreas = razón de bases.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7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E87D1A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Cuadriláteros y polígonos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749039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9BD5"/>
                </a:solidFill>
              </a:rPr>
              <a:t>25 – 50 minutos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Teoría exprés — Cuadriláteros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E87D1A"/>
                </a:solidFill>
              </a:rPr>
              <a:t>⏱ 25–32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▸ Paralelogramo: diagonales se bisecan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10512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▸ Rombo: diagonales ⊥ y bisecan ángulos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40864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▸ Rectángulo: diagonales iguales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71216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▸ Cuadrado: todo lo anterior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01568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▸ Trapecio: un par de lados 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31920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▸ Mediatrapecio: isósceles → diag. iguales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62272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▸ Área trapecio = (B+b)·h /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143000"/>
            <a:ext cx="45720" cy="53035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28016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▸ Cuadrilátero cíclico (inscripto en ⊙)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10512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▸   → ángulos opuestos suplementarios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40864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▸   → Ptolomeo: AC·BD = AB·CD + AD·BC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871216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▸   → Potencia de punto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401568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▸ Cuadrilátero tangencial (exinscripto en ⊙)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93192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▸   → AB + CD = BC + 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462272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▸ Varignon: unir puntos medios → paralelo.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Problema guiado 2.1 — Trapecio y semejanza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1A2E6C"/>
                </a:solidFill>
              </a:rPr>
              <a:t>⏱ 32–40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ABCD es un trapecio con AB ∥ CD. Las diagonales AC y BD se cortan en P.
AB = 6, CD = 4.
a) Demostrá que △APB ~ △CPD y hallá la razón de semejanza.
b) Si el área de △CPD es 8, calculá el área de △APB y del trapecio completo.
c) ¿Cuánto miden BP y PD si BD = 10?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303520"/>
            <a:ext cx="11430000" cy="868680"/>
          </a:xfrm>
          <a:prstGeom prst="rect">
            <a:avLst/>
          </a:prstGeom>
          <a:solidFill>
            <a:srgbClr val="27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36752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Pista: Los triángulos △APB y △CPD son semejantes (AA). La razón de áreas es el cuadrado de la razón lineal. Para las partes de BD usá la razón 3:2.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Problema autónomo 2.2 — Cuadrilátero cíclico (tipo Zonal)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1A2E6C"/>
                </a:solidFill>
              </a:rPr>
              <a:t>⏱ 40–50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ABCD es un cuadrilátero inscripto en una circunferencia.
AB = 3, BC = 5, CD = 6, DA = 4.
a) Calculá AC usando el Teorema de Ptolomeo y la Ley del Coseno (hint: usá el ángulo ∠ABC + ∠ADC = 180°).
b) Hallá el área del cuadrilátero mediante la fórmula de Brahmagupta:
    K = √((s−a)(s−b)(s−c)(s−d))  con s = semiperímetro.
c) Calculá el radio de la circunferencia circunscripta.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303520"/>
            <a:ext cx="11430000" cy="868680"/>
          </a:xfrm>
          <a:prstGeom prst="rect">
            <a:avLst/>
          </a:prstGeom>
          <a:solidFill>
            <a:srgbClr val="27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36752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Pista: Brahmagupta es el análogo de Herón para cuadriláteros cíclicos. El radio se obtiene dividiendo el producto de las diagonales por 4K.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7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E87D1A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Circunferencia e inscripción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749039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9BD5"/>
                </a:solidFill>
              </a:rPr>
              <a:t>50 – 70 minutos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Teoría exprés — Circunferencia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E87D1A"/>
                </a:solidFill>
              </a:rPr>
              <a:t>⏱ 50–58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Ángulo central = arco. Ángulo inscripto = arco/2.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Ángulo inscripto en semicírculo = 90°.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4086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Ángulos inscriptos que subtienden el mismo arco son iguales.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7121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Ángulo entre cuerda y tangente = arco interceptado / 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015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Dos cuerdas que se cruzan: PA·PB = PC·PD (potencia).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Dos secantes desde punto exterior: PA·PB = PC·PD.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7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Tangente-secante: t² = PA·PB.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897880"/>
            <a:ext cx="11430000" cy="77724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💡 La potencia de un punto es la clave para resolver la mayoría de problemas con dos circunferencias o cuerda+secante.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Teoría exprés — Circunferencia (II)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E87D1A"/>
                </a:solidFill>
              </a:rPr>
              <a:t>⏱ 58–63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Longitud de arco = r·θ (θ en radianes) = 2πr·α/360°.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Área de sector = r²·θ/2 = πr²·α/360°.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4086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Área de segmento = sector − triángulo.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7121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Línea de los centros ⊥ cuerda común a dos ⊙.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015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Distancia entre centros vs. radios: externa, interna, tangentes ext./int.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Eje radical: lugar geométrico de puntos con igual potencia respecto de dos ⊙.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897880"/>
            <a:ext cx="11430000" cy="77724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💡 Cuando hay dos circunferencias, trazá el eje radical. Si hay tres, los tres ejes radicales se cortan en el centro radical.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Problema guiado 3.1 — Potencia de punto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1A2E6C"/>
                </a:solidFill>
              </a:rPr>
              <a:t>⏱ 63–70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Sea P un punto exterior a una circunferencia de radio 5 y centro O.
Desde P se trazan dos secantes: una toca la circunferencia en A y B (con A entre P y B),
la otra en C y D (con C entre P y D).
Datos: PA = 3, PB = 12, PC = 4.
a) Calculá PD.
b) Hallá la longitud de la tangente desde P.
c) Si la cuerda AB tiene como punto medio a M, hallá OM.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303520"/>
            <a:ext cx="11430000" cy="868680"/>
          </a:xfrm>
          <a:prstGeom prst="rect">
            <a:avLst/>
          </a:prstGeom>
          <a:solidFill>
            <a:srgbClr val="27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36752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Pista: Potencia de punto: PA·PB = PC·PD = t². Para OM usá que OM ⊥ AB y el Teorema de Pitágoras.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7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E87D1A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Práctica tipo competencia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749039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9BD5"/>
                </a:solidFill>
              </a:rPr>
              <a:t>70 – 90 minutos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Estrategia para resolver en olimpiada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E87D1A"/>
                </a:solidFill>
              </a:rPr>
              <a:t>⏱ 70–73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1. Leer el enunciado completo y dibujar una figura GRANDE y prolija.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2. Marcar todo lo dado: medidas, paralelas, ángulos iguales.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4086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3. Identificar qué tipo de configuración es (triángulo, cíclico, potencia…).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7121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4. Conjeturar el resultado antes de calcular.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015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5. Escribir cada paso con justificación explícita.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6. Verificar con casos particulares (triángulo equilátero, rectángulo…).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897880"/>
            <a:ext cx="11430000" cy="77724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💡 ¡La figura es tu mejor aliada! Un diagrama incorrecto puede arruinar 20 minutos de trabajo.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Problema de competencia A — Nivel Intercolegial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1A2E6C"/>
                </a:solidFill>
              </a:rPr>
              <a:t>⏱ 73–82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En el triángulo ABC, el punto D es el pie de la altura desde A.
La bisectriz del ángulo A corta a BC en E.
Sea M el punto medio de BC.
Sabiendo que BD = 4, DC = 9 y BC = 13:
a) Calculá AD (altura).
b) Hallá AB y AC usando el resultado de (a).
c) Determiná BE usando la propiedad de la bisectriz.
d) ¿Son colineales D, E, M? Justificá.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303520"/>
            <a:ext cx="11430000" cy="868680"/>
          </a:xfrm>
          <a:prstGeom prst="rect">
            <a:avLst/>
          </a:prstGeom>
          <a:solidFill>
            <a:srgbClr val="27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36752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Pista: AD² = BD·DC (media geométrica). La bisectriz: BE/EC = AB/AC.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Problema de competencia B — Nivel Zonal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371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1A2E6C"/>
                </a:solidFill>
              </a:rPr>
              <a:t>⏱ 82–90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ABCD es un rectángulo con AB = 3 y BC = 4.
P es un punto en CD tal que DP = 1 (y PC = 3).
La recta AP corta a BC (prolongada si es necesario) en Q.
a) Calculá BQ.
b) Hallá el área del triángulo APB.
c) Una circunferencia pasa por A, P y B. Calculá su radio.
d) ¿El punto C es interior o exterior a esa circunferencia? Justificá.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303520"/>
            <a:ext cx="11430000" cy="868680"/>
          </a:xfrm>
          <a:prstGeom prst="rect">
            <a:avLst/>
          </a:prstGeom>
          <a:solidFill>
            <a:srgbClr val="27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36752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Pista: Para (a) usá semejanza de triángulos o coordenadas. Para (c) usá la ley de senos: 2R = AP/sin(∠ABP).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Soluciones clave — para repasar en casa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9653"/>
                </a:solidFill>
              </a:rPr>
              <a:t>▸ 1.1b) AH = 1.6, HB = 8.4, AC = 4, BC ≈ 9.17, MH = 3.4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051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9653"/>
                </a:solidFill>
              </a:rPr>
              <a:t>▸ 1.2a) Área(ABD)/Área(ACD) = 2 (razón BD/DC =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4086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9653"/>
                </a:solidFill>
              </a:rPr>
              <a:t>▸ 2.1b) Área(APB) = 18, Área trapecio = 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9653"/>
                </a:solidFill>
              </a:rPr>
              <a:t>▸ 2.2b) s = 9, K = √(6·4·3·5) = 6√10 ≈ 18.97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015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9653"/>
                </a:solidFill>
              </a:rPr>
              <a:t>▸ 3.1a) PD = 9  b) t = 6  c) OM =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9653"/>
                </a:solidFill>
              </a:rPr>
              <a:t>▸ 4A-a) AD = 6  b) AB = √52 ≈ 7.21, AC = √117 ≈ 10.82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6227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9653"/>
                </a:solidFill>
              </a:rPr>
              <a:t>▸ 4B-a) BQ = 4  b) Área = 6  c) R = 2.5  d) C exterior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897880"/>
            <a:ext cx="11430000" cy="77724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💡 Corregí cada problema revisando el razonamiento, no solo el número final.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Recursos para seguir practicando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oma.org.ar  →  Archivo de enunciados intercolegiales y zonales (todos los años)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051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Geometría para Olimpiadas — Grupo Mate (libro nivel 3, incluye teoría + 150 ej.)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4086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Art of Problem Solving — Geometry section (problemas internacionales con soluciones)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GeoGebra  →  Construir cada figura del enunciado para verificar soluciones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015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Recomendación: resolver al menos 3 problemas de años anteriores por semana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▸ Simulacros cronometrados: 90 min, 3 problemas, sin ayuda externa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897880"/>
            <a:ext cx="11430000" cy="77724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💡 El salto intercolegial → zonal se logra con velocidad + justificación rigurosa. Practicá escribir cada paso.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¡Buena suerte en la competencia!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B9BD5"/>
                </a:solidFill>
              </a:rPr>
              <a:t>Geometría OMA Nivel 3  ·  Intercolegial &amp; Zonal  ·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